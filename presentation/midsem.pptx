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Good morning. My project is about making very dark photos look as if they were taken in good light, and checking whether that actually helps a computer find objects in the dark. In this midsem I will show what I have reproduced, what I measured, one idea of my own that I tested, and my plan for the second half.</a:t>
            </a:r>
          </a:p>
          <a:p/>
          <a:p>
            <a:r>
              <a:t>Q: Why this topic? A: Night photos, surveillance and driving all produce dark images, and detectors fail on them; it is an active research area with open problems such as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Let me explain the title in three parts. Low-light image enhancement means turning a dark photo into one that looks well lit.</a:t>
            </a:r>
          </a:p>
          <a:p>
            <a:r>
              <a:t>First, TRANSFORMER-BASED: my main model is Retinexformer, a transformer built on Retinex theory. I reproduced it and compared it</a:t>
            </a:r>
          </a:p>
          <a:p>
            <a:r>
              <a:t>with eight other methods under one common protocol. Second, NOISE-AWARE: when you brighten a dark image, the noise in the darkest</a:t>
            </a:r>
          </a:p>
          <a:p>
            <a:r>
              <a:t>parts is amplified the most. My idea is a loss that finds noisy regions with a signal-to-noise map and gives them more weight during</a:t>
            </a:r>
          </a:p>
          <a:p>
            <a:r>
              <a:t>training. At midsem this is a pilot. Third, DOWNSTREAM DETECTION: instead of only measuring image quality, I ask whether enhancement</a:t>
            </a:r>
          </a:p>
          <a:p>
            <a:r>
              <a:t>actually helps a computer find objects in the dark, using YOLOv8 on the ExDark dataset. The rest of the talk follows these three parts.</a:t>
            </a:r>
          </a:p>
          <a:p/>
          <a:p>
            <a:r>
              <a:t>Q: What do you mean by noise-aware? A: The method uses an estimate of where the noise is (the SNR map) and treats those regions</a:t>
            </a:r>
          </a:p>
          <a:p>
            <a:r>
              <a:t>differently - in my case it gives them more weight in the training loss.</a:t>
            </a:r>
          </a:p>
          <a:p>
            <a:r>
              <a:t>Q: Why transformer and not CNN? A: Attention lets each region use information from the whole image, which helps decide how much to</a:t>
            </a:r>
          </a:p>
          <a:p>
            <a:r>
              <a:t>brighten each part; Retinexformer keeps the cost low by computing attention across channels instead of pixels.</a:t>
            </a:r>
          </a:p>
          <a:p>
            <a:r>
              <a:t>Q: Why detection? A: Real uses - surveillance, driving - care whether machines can see objects, not only whether the photo looks nice.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On the left is a real photo from the LOL test set taken in very low light; on the right is the same photo after I ran</a:t>
            </a:r>
          </a:p>
          <a:p>
            <a:r>
              <a:t>Retinexformer on it. Dark images like this appear in phone night photography, surveillance cameras, night driving and robots.</a:t>
            </a:r>
          </a:p>
          <a:p>
            <a:r>
              <a:t>They are hard for people to see, and object detectors also work much worse in the dark. And simply brightening is not enough,</a:t>
            </a:r>
          </a:p>
          <a:p>
            <a:r>
              <a:t>because the noise is brightened too - that is the next slide.</a:t>
            </a:r>
          </a:p>
          <a:p/>
          <a:p>
            <a:r>
              <a:t>Q: Can't we just increase the exposure? A: Longer exposure causes motion blur, and higher ISO adds noise; enhancement</a:t>
            </a:r>
          </a:p>
          <a:p>
            <a:r>
              <a:t>after capture avoids both but must deal with the noise that is already there.</a:t>
            </a:r>
          </a:p>
          <a:p>
            <a:r>
              <a:t>Q: Is this image from your results? A: Yes - the left is the LOL-v1 test input, the right is the output of Retinexformer</a:t>
            </a:r>
          </a:p>
          <a:p>
            <a:r>
              <a:t>(released weights) that I ran myself.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Dark images have three problems at once. They are dark, they are noisy because the sensor collected few photons,</a:t>
            </a:r>
          </a:p>
          <a:p>
            <a:r>
              <a:t>and artificial light changes the colours. The key point is on the right: if I simply multiply the dark region by six,</a:t>
            </a:r>
          </a:p>
          <a:p>
            <a:r>
              <a:t>the noise is multiplied too - you can see the grainy speckles, and the white wall looks grey-green. A simple enhancer like</a:t>
            </a:r>
          </a:p>
          <a:p>
            <a:r>
              <a:t>Zero-DCE also brightens the noise.</a:t>
            </a:r>
          </a:p>
          <a:p>
            <a:r>
              <a:t>The ground truth, taken with a long exposure, is clean. So enhancement must brighten AND denoise.</a:t>
            </a:r>
          </a:p>
          <a:p/>
          <a:p>
            <a:r>
              <a:t>Q: Where does the noise come from? A: Mostly photon shot noise and sensor read noise; with few photons the random</a:t>
            </a:r>
          </a:p>
          <a:p>
            <a:r>
              <a:t>fluctuation is large relative to the signal, i.e. the signal-to-noise ratio (SNR) is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field moved through five stages. Classical methods like histogram equalization and Retinex-based LIME use hand-made</a:t>
            </a:r>
          </a:p>
          <a:p>
            <a:r>
              <a:t>rules and ignore noise. Supervised CNNs like Retinex-Net and KinD learn from paired dark/bright images. Zero-shot methods like</a:t>
            </a:r>
          </a:p>
          <a:p>
            <a:r>
              <a:t>Zero-DCE and SCI need no pairs and are tiny and fast, but do not denoise. Transformers - SNR-Aware, LLFormer, Retinexformer -</a:t>
            </a:r>
          </a:p>
          <a:p>
            <a:r>
              <a:t>model long-range relations and give the best fidelity. Diffusion models like GSAD generate very realistic textures but are slow.</a:t>
            </a:r>
          </a:p>
          <a:p/>
          <a:p>
            <a:r>
              <a:t>Q: Why did transformers help? A: Self-attention lets a dark pixel use information from distant, well-lit regions; CNNs only</a:t>
            </a:r>
          </a:p>
          <a:p>
            <a:r>
              <a:t>see a local neighbourhood.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These are the methods I actually ran. For each one: the idea in one line, and its main limitation. Notice the pattern:</a:t>
            </a:r>
          </a:p>
          <a:p>
            <a:r>
              <a:t>the fast unsupervised methods do not remove noise, the transformers are accurate, and the diffusion model is slow. SNR-Aware</a:t>
            </a:r>
          </a:p>
          <a:p>
            <a:r>
              <a:t>is the only one that explicitly measures noise - that idea inspired my loss.</a:t>
            </a:r>
          </a:p>
          <a:p/>
          <a:p>
            <a:r>
              <a:t>Q: Why Retinexformer as the main model? A: Best PSNR in our tests on all three LOL sets, only 1.6 M parameters, public code</a:t>
            </a:r>
          </a:p>
          <a:p>
            <a:r>
              <a:t>and weights, and it is built on Retinex theory, which makes it explainable.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Four gaps motivate the project. First, noise in dark regions is still an open problem. Second, Retinexformer knows where the</a:t>
            </a:r>
          </a:p>
          <a:p>
            <a:r>
              <a:t>image is dark but not where it is noisy. Third, papers mostly report PSNR and SSIM; few check whether enhancement helps a machine.</a:t>
            </a:r>
          </a:p>
          <a:p>
            <a:r>
              <a:t>Fourth, diffusion models trade a lot of speed for quality. Each row of the table pairs a gap with what I did about it in the first half</a:t>
            </a:r>
          </a:p>
          <a:p>
            <a:r>
              <a:t>and the slide where I show it: a noise-aware loss with a control run, detection and dark-region metrics, speed on one GPU, and a fair</a:t>
            </a:r>
          </a:p>
          <a:p>
            <a:r>
              <a:t>reproduction of all methods with one script.</a:t>
            </a:r>
          </a:p>
          <a:p/>
          <a:p>
            <a:r>
              <a:t>Q: What is the difference between dark and noisy? A: A dark but smooth wall can be clean; a textured dark region can be very</a:t>
            </a:r>
          </a:p>
          <a:p>
            <a:r>
              <a:t>noisy. Illumination tells you brightness, SNR tells you how much of the signal is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Retinex theory says an image is reflectance times illumination: the true colours of objects times the light falling on them.</a:t>
            </a:r>
          </a:p>
          <a:p>
            <a:r>
              <a:t>Enhancement means estimating the illumination and replacing it with brighter light. Transformers use attention: every token</a:t>
            </a:r>
          </a:p>
          <a:p>
            <a:r>
              <a:t>compares itself with every other token, so the cost grows with the square of the number of tokens. For a 600 by 400 image that</a:t>
            </a:r>
          </a:p>
          <a:p>
            <a:r>
              <a:t>would be 240 thousand tokens and a matrix with 58 billion entries - impossible. Retinexformer computes attention across channels</a:t>
            </a:r>
          </a:p>
          <a:p>
            <a:r>
              <a:t>instead, a small C by C matrix, so the cost grows only linearly with image size.</a:t>
            </a:r>
          </a:p>
          <a:p/>
          <a:p>
            <a:r>
              <a:t>Q: What are Q, K, V? A: Query = what a token is looking for, Key = what it contains, Value = what it passes on; similarity of</a:t>
            </a:r>
          </a:p>
          <a:p>
            <a:r>
              <a:t>Q and K decides how much of each Value is mixed in. Q: Why divide by sqrt(d)? A: Keeps the dot products in a range where</a:t>
            </a:r>
          </a:p>
          <a:p>
            <a:r>
              <a:t>softmax does not saturate.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Retinexformer has two parts. The illumination estimator looks at the image and its mean brightness and predicts a light-up</a:t>
            </a:r>
          </a:p>
          <a:p>
            <a:r>
              <a:t>map; multiplying and adding back gives a brighter but still noisy image. Then the corruption restorer, a U-shaped transformer,</a:t>
            </a:r>
          </a:p>
          <a:p>
            <a:r>
              <a:t>removes the noise and artifacts. Its special block, IG-MSA, multiplies the values by light-up features, so differently lit regions</a:t>
            </a:r>
          </a:p>
          <a:p>
            <a:r>
              <a:t>are treated differently, and computes attention across channels. The whole model has only</a:t>
            </a:r>
          </a:p>
          <a:p>
            <a:r>
              <a:t>1.61 million parameters. I drew this diagram myself from the released code.</a:t>
            </a:r>
          </a:p>
          <a:p/>
          <a:p>
            <a:r>
              <a:t>Q: Why add I back (I*L + I)? A: A residual form: the network only has to learn the change in brightness, which is easier and</a:t>
            </a:r>
          </a:p>
          <a:p>
            <a:r>
              <a:t>more stable. Q: What does illumination guidance add? A: Dark regions can borrow information from well-lit regions in a controlled</a:t>
            </a:r>
          </a:p>
          <a:p>
            <a:r>
              <a:t>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My idea is to tell the network, during training, which pixels are noisy. I compute an SNR map from the dark input: blur it,</a:t>
            </a:r>
          </a:p>
          <a:p>
            <a:r>
              <a:t>the difference between the image and its blur is the noise, and blur divided by noise is the SNR. Low-SNR pixels then get up to</a:t>
            </a:r>
          </a:p>
          <a:p>
            <a:r>
              <a:t>twice the weight of clean pixels in the L1 loss. Two design decisions: first, I use the rank of each pixel's SNR, because with</a:t>
            </a:r>
          </a:p>
          <a:p>
            <a:r>
              <a:t>min-max normalisation 93 percent of pixels got weight about 2, which would just double the learning rate - you see that in the</a:t>
            </a:r>
          </a:p>
          <a:p>
            <a:r>
              <a:t>orange histogram. Second, I divide by the mean so the average weight is exactly 1; only the emphasis moves.</a:t>
            </a:r>
          </a:p>
          <a:p/>
          <a:p>
            <a:r>
              <a:t>Q: Why not min-max? A: The SNR values have a huge tail; min-max squashes almost every pixel to the same weight. Q: Is the SNR map</a:t>
            </a:r>
          </a:p>
          <a:p>
            <a:r>
              <a:t>learned? A: No, it is computed from the input, without gradients. Q: Weakness? A: The blur difference also fires on edges - see</a:t>
            </a:r>
          </a:p>
          <a:p>
            <a:r>
              <a:t>the yellow edges in panel (e).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I evaluate on three paired test sets with ground truth, three sets of real unpaired photos, and 1,200 ExDark images with</a:t>
            </a:r>
          </a:p>
          <a:p>
            <a:r>
              <a:t>object boxes. Metrics: PSNR and SSIM for fidelity, LPIPS for perceptual similarity, NIQE when there is no ground truth, my</a:t>
            </a:r>
          </a:p>
          <a:p>
            <a:r>
              <a:t>dark-region PSNR in the darkest 30 percent of pixels, and mAP for detection. Training ran on a free Kaggle T4 GPU. Important</a:t>
            </a:r>
          </a:p>
          <a:p>
            <a:r>
              <a:t>protocol rules: no ground-truth information at test time, no checkpoint chosen by test score, and no testing on training images.</a:t>
            </a:r>
          </a:p>
          <a:p/>
          <a:p>
            <a:r>
              <a:t>Q: Why is LOL-v2-real excluded for models trained on LOL-v1? A: I found that 91 of its 100 test images are LOL-v1 training images.</a:t>
            </a:r>
          </a:p>
          <a:p>
            <a:r>
              <a:t>Q: Why does SSIM differ from PSNR? A: PSNR is pixel error; SSIM compares local structure, contrast and brightness.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main comparison, all scored by the same script. Retinexformer has the best PSNR on both sets,</a:t>
            </a:r>
          </a:p>
          <a:p>
            <a:r>
              <a:t>25.15 dB on LOL-v1. GSAD, the diffusion model, has the best LPIPS - its images look the most natural -</a:t>
            </a:r>
          </a:p>
          <a:p>
            <a:r>
              <a:t>but lower PSNR. Classical and zero-shot methods brighten the image but stay around 15 dB. My own re-training of Retinexformer reached</a:t>
            </a:r>
          </a:p>
          <a:p>
            <a:r>
              <a:t>23.10 dB - I explain that gap on the next slide.</a:t>
            </a:r>
          </a:p>
          <a:p/>
          <a:p>
            <a:r>
              <a:t>Q: Why is GSAD lower in PSNR but better in LPIPS? A: Diffusion creates realistic texture but its overall brightness is off, and PSNR</a:t>
            </a:r>
          </a:p>
          <a:p>
            <a:r>
              <a:t>punishes brightness errors heavily. Q: Why are dashes there? A: Those models were trained on LOL-v1, whose training set overlaps</a:t>
            </a:r>
          </a:p>
          <a:p>
            <a:r>
              <a:t>LOL-v2-real's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Before trusting any comparison I checked that I reproduce the published numbers. Retinexformer, SNR-Aware and LLFormer match</a:t>
            </a:r>
          </a:p>
          <a:p>
            <a:r>
              <a:t>their papers to 0.01 dB. GSAD's paper reports 27.84 dB, but its test script rescales every output</a:t>
            </a:r>
          </a:p>
          <a:p>
            <a:r>
              <a:t>to the ground truth's average brightness - information a real camera never has. With that trick I get</a:t>
            </a:r>
          </a:p>
          <a:p>
            <a:r>
              <a:t>27.57, without it 22.73 dB. Second finding: 91 of the 100</a:t>
            </a:r>
          </a:p>
          <a:p>
            <a:r>
              <a:t>LOL-v2-real test images are copies of LOL-v1 training images - on the right is one example, the same photo in both sets. Third: training Retinexformer from scratch myself gives</a:t>
            </a:r>
          </a:p>
          <a:p>
            <a:r>
              <a:t>23.10 dB, not 25 - another user on the authors' GitHub reported 23.45 dB.</a:t>
            </a:r>
          </a:p>
          <a:p/>
          <a:p>
            <a:r>
              <a:t>Q: Why is your re-training 2 dB lower? A: Likely run-to-run variance on a tiny dataset (485 train, 15 test images), different</a:t>
            </a:r>
          </a:p>
          <a:p>
            <a:r>
              <a:t>PyTorch/GPU, and the released checkpoint may be the best of several runs; my evaluation reproduces the training log exactly.</a:t>
            </a:r>
          </a:p>
          <a:p>
            <a:r>
              <a:t>Q: Is GSAD cheating? A: It follows an older convention (KinD, LLFlow) and says so in its README, but it is not comparable with</a:t>
            </a:r>
          </a:p>
          <a:p>
            <a:r>
              <a:t>methods that do not use the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Here are two LOL-v1 test images (79 and 493), each with a zoomed crop of a dark region below it. Zero-DCE and SCI make the</a:t>
            </a:r>
          </a:p>
          <a:p>
            <a:r>
              <a:t>image bright but the crops are full of coloured noise. Retinexformer and my fine-tuned run B remove the noise but smooth fine</a:t>
            </a:r>
          </a:p>
          <a:p>
            <a:r>
              <a:t>detail - for example the small green text on the tube in the bottom crop is lost. GSAD is the brightest and keeps the most texture,</a:t>
            </a:r>
          </a:p>
          <a:p>
            <a:r>
              <a:t>but its colours drift - see the greenish background in the bottom crop. My run B looks almost identical to Retinexformer.</a:t>
            </a:r>
          </a:p>
          <a:p/>
          <a:p>
            <a:r>
              <a:t>Q: How were the zoom boxes chosen? A: Automatically: a region that is dark in the input but has detail in the ground truth, so the</a:t>
            </a:r>
          </a:p>
          <a:p>
            <a:r>
              <a:t>crop shows what each method recovers.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I ran a standard YOLOv8 detector, trained on normal-light COCO images, on raw ExDark images and on enhanced versions of the same</a:t>
            </a:r>
          </a:p>
          <a:p>
            <a:r>
              <a:t>images. Surprisingly, raw images are best: mAP50 0.662. Every enhancer lowers it; even the diffusion</a:t>
            </a:r>
          </a:p>
          <a:p>
            <a:r>
              <a:t>model on the 200-image subset stays below raw. Precision hardly changes but recall drops: after enhancement the detector misses</a:t>
            </a:r>
          </a:p>
          <a:p>
            <a:r>
              <a:t>objects. On the right, the school bus is not detected in any version, and enhancement turns the white blanket yellow.</a:t>
            </a:r>
          </a:p>
          <a:p/>
          <a:p>
            <a:r>
              <a:t>Q: Retinexformer's paper says enhancement helps detection - contradiction? A: No: they train YOLOv3 from scratch on enhanced images and</a:t>
            </a:r>
          </a:p>
          <a:p>
            <a:r>
              <a:t>compare enhancers with each other, with no raw-image row. I test an off-the-shelf detector. Q: Why might it hurt? A: Amplified noise,</a:t>
            </a:r>
          </a:p>
          <a:p>
            <a:r>
              <a:t>colour shifts, and a domain gap from the normal-light images the detector learned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controlled experiment. All four runs start from the same released weights, see exactly the same training batches</a:t>
            </a:r>
          </a:p>
          <a:p>
            <a:r>
              <a:t>and use the same learning rate - only the loss changes. Run A is the control with plain L1, B is my SNR-weighted loss, C adds an FFT</a:t>
            </a:r>
          </a:p>
          <a:p>
            <a:r>
              <a:t>loss, D both. Result: B beats A by only 0.01 dB overall.</a:t>
            </a:r>
          </a:p>
          <a:p>
            <a:r>
              <a:t>In the darkest regions it is better on 13 of 15 images, which is unlikely by chance (p = 0.004), so the effect is consistent and</a:t>
            </a:r>
          </a:p>
          <a:p>
            <a:r>
              <a:t>in the intended place - but it is tiny, a few hundredths of a dB, and invisible. FFT does nothing. Also, fine-tuning itself lowered</a:t>
            </a:r>
          </a:p>
          <a:p>
            <a:r>
              <a:t>PSNR for every run, including the control.</a:t>
            </a:r>
          </a:p>
          <a:p/>
          <a:p>
            <a:r>
              <a:t>Q: Why have a control run? A: Without it, any change could come from simply training longer; with it, the difference between A and B</a:t>
            </a:r>
          </a:p>
          <a:p>
            <a:r>
              <a:t>can only come from the loss. Q: Statistically significant but not important? A: Yes - consistent direction, negligible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Speed matters for phones and cameras. All methods were timed on the same GPU at 600 by 400. SCI takes</a:t>
            </a:r>
          </a:p>
          <a:p>
            <a:r>
              <a:t>1.5 ms but has low quality; Retinexformer gives the best PSNR at</a:t>
            </a:r>
          </a:p>
          <a:p>
            <a:r>
              <a:t>151 ms with 1.61 M parameters; the diffusion</a:t>
            </a:r>
          </a:p>
          <a:p>
            <a:r>
              <a:t>model GSAD needs about 2.4 to</a:t>
            </a:r>
          </a:p>
          <a:p>
            <a:r>
              <a:t>4.9 seconds per image - 16 to 32 times slower - for lower PSNR.</a:t>
            </a:r>
          </a:p>
          <a:p/>
          <a:p>
            <a:r>
              <a:t>Q: Why is GSAD slow? A: Diffusion runs the network once per sampling step (10-20 steps); Retinexformer runs once. Q: Why time only on</a:t>
            </a:r>
          </a:p>
          <a:p>
            <a:r>
              <a:t>one GPU? A: Speeds from different hardware are not comparable; my laptop's timings were unreliable.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Every method, including mine, loses the fine green text on this tube and the wood grain of this cabinet - the signal is simply not recoverable from the dark input.</a:t>
            </a:r>
          </a:p>
          <a:p>
            <a:r>
              <a:t>Limitations of my work: LOL-v1 has only 15 test images, so small PSNR differences are not meaningful; I used one random seed per run;</a:t>
            </a:r>
          </a:p>
          <a:p>
            <a:r>
              <a:t>free GPU time limited training; the detector was not fine-tuned; and my SNR estimate cannot tell noise from edges, which is probably</a:t>
            </a:r>
          </a:p>
          <a:p>
            <a:r>
              <a:t>one reason the loss had little effect.</a:t>
            </a:r>
          </a:p>
          <a:p/>
          <a:p>
            <a:r>
              <a:t>Q: What would you do differently? A: Several seeds, larger test sets, and a noise estimate that ignores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evidence suggests moving the SNR idea from the loss into the network itself, as SNR-Aware does inside attention, and fixing the</a:t>
            </a:r>
          </a:p>
          <a:p>
            <a:r>
              <a:t>noise estimate so it ignores edges. I will sweep the weighting strength with several seeds to measure variance, train the best version</a:t>
            </a:r>
          </a:p>
          <a:p>
            <a:r>
              <a:t>from scratch, evaluate on larger test sets, and finally fine-tune the detector on enhanced images to see whether enhancement can help</a:t>
            </a:r>
          </a:p>
          <a:p>
            <a:r>
              <a:t>when the detector adapts to it.</a:t>
            </a:r>
          </a:p>
          <a:p/>
          <a:p>
            <a:r>
              <a:t>Q: Why should SNR inside attention work better than in the loss? A: The loss only changes how errors are counted; guidance inside</a:t>
            </a:r>
          </a:p>
          <a:p>
            <a:r>
              <a:t>attention changes what information each region uses, which is where SNR-Aware gained.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To summarise: I reproduced Retinexformer and eight baselines under one fair protocol, and the released models match their papers.</a:t>
            </a:r>
          </a:p>
          <a:p>
            <a:r>
              <a:t>The common protocol revealed three things that published tables hide: a ground-truth brightness trick, an overlap between benchmarks,</a:t>
            </a:r>
          </a:p>
          <a:p>
            <a:r>
              <a:t>and the fact that enhancement does not help an off-the-shelf detector. My noise-aware loss, tested with a strict control, gives a</a:t>
            </a:r>
          </a:p>
          <a:p>
            <a:r>
              <a:t>consistent but negligible gain, and the analysis points to moving noise awareness into the attention itself. Thank you.</a:t>
            </a:r>
          </a:p>
          <a:p/>
          <a:p>
            <a:r>
              <a:t>Q: What is your main contribution so far? A: A careful, controlled evaluation - including detection and dark regions - and a tested,</a:t>
            </a:r>
          </a:p>
          <a:p>
            <a:r>
              <a:t>explained negative result that sets up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5661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Noise-Aware Transformer-Based Low-Light Image Enhancement with Downstream Object Detection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BE8F8"/>
                </a:solidFill>
                <a:latin typeface="Arial"/>
              </a:rPr>
              <a:t>Mid-semester B.Tech Project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B0B0B"/>
                </a:solidFill>
                <a:latin typeface="Arial"/>
              </a:rPr>
              <a:t>Dhirendra Pratap Singh   (2301EE49)</a:t>
            </a:r>
          </a:p>
          <a:p>
            <a:pPr algn="l"/>
            <a:r>
              <a:rPr sz="1800" b="0">
                <a:solidFill>
                  <a:srgbClr val="0B0B0B"/>
                </a:solidFill>
                <a:latin typeface="Arial"/>
              </a:rPr>
              <a:t>Supervisor: Dr. Rajib Kumar Jha</a:t>
            </a:r>
          </a:p>
          <a:p>
            <a:pPr algn="l"/>
            <a:r>
              <a:rPr sz="1800" b="0">
                <a:solidFill>
                  <a:srgbClr val="0B0B0B"/>
                </a:solidFill>
                <a:latin typeface="Arial"/>
              </a:rPr>
              <a:t>Department of Electrical Engineering, IIT Patna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Project at a glance: what the title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2514E"/>
                </a:solidFill>
                <a:latin typeface="Arial"/>
              </a:rPr>
              <a:t>Goal: make dark photos bright and clean - without amplifying noise - and check whether this helps a machine see.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3520440" cy="685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520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Transformer-based enhancement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3520440" cy="233172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Arial"/>
              </a:rPr>
              <a:t>Retinexformer (ICCV 2023) as the main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8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Arial"/>
              </a:rPr>
              <a:t>Reproduce it and compare with 8 baselines under one protocol (quality, no-reference, speed)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78D6"/>
                </a:solidFill>
                <a:latin typeface="Arial"/>
              </a:rPr>
              <a:t>Reproduced: 25.15 dB vs paper 25.16 → pipeline verified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874519"/>
            <a:ext cx="3520440" cy="685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874519"/>
            <a:ext cx="3520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Noise-aware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2560320"/>
            <a:ext cx="3520440" cy="233172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6517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Arial"/>
              </a:rPr>
              <a:t>SNR-weighted training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0128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Arial"/>
              </a:rPr>
              <a:t>SNR map finds dark, noisy regions; the training loss gives them more weight; compared with a control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6052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78D6"/>
                </a:solidFill>
                <a:latin typeface="Arial"/>
              </a:rPr>
              <a:t>Pilot tested; next: noise awareness inside the network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874519"/>
            <a:ext cx="3520440" cy="685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874519"/>
            <a:ext cx="3520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Downstream detection 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2560320"/>
            <a:ext cx="3520440" cy="233172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26517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Arial"/>
              </a:rPr>
              <a:t>Does enhancement help a detector?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310128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Arial"/>
              </a:rPr>
              <a:t>YOLOv8m on ExDark (1,200 dark images, 12 classes): raw images vs every enhanced 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16052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78D6"/>
                </a:solidFill>
                <a:latin typeface="Arial"/>
              </a:rPr>
              <a:t>Result: raw images best (mAP50 0.662); no enhancer helps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5780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5780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0B0B"/>
                </a:solidFill>
                <a:latin typeface="Arial"/>
              </a:rPr>
              <a:t>Dark photo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5257800"/>
            <a:ext cx="33832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525780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0B0B"/>
                </a:solidFill>
                <a:latin typeface="Arial"/>
              </a:rPr>
              <a:t>Enhancer</a:t>
            </a:r>
          </a:p>
          <a:p>
            <a:pPr algn="ctr"/>
            <a:r>
              <a:rPr sz="1400" b="1">
                <a:solidFill>
                  <a:srgbClr val="0B0B0B"/>
                </a:solidFill>
                <a:latin typeface="Arial"/>
              </a:rPr>
              <a:t>(Retinexformer + noise-aware loss)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525780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5257800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Image quality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PSNR, SSIM, LPIPS, NIQE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20" y="5257800"/>
            <a:ext cx="20116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5257800"/>
            <a:ext cx="2011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Object detection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YOLOv8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440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A78D6"/>
                </a:solidFill>
                <a:latin typeface="Arial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440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A78D6"/>
                </a:solidFill>
                <a:latin typeface="Arial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4406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A78D6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Why low-light enhancement?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3</a:t>
            </a:r>
          </a:p>
        </p:txBody>
      </p:sp>
      <p:pic>
        <p:nvPicPr>
          <p:cNvPr id="7" name="Picture 6" descr="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11016234" cy="3611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1091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Arial"/>
              </a:rPr>
              <a:t>Our run: LOL-v1 test image 79 - dark input (left), Retinexformer output (right)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78D6"/>
                </a:solidFill>
                <a:latin typeface="Arial"/>
              </a:rPr>
              <a:t>Where dark images occur: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44068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4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Phone night photography</a:t>
            </a:r>
          </a:p>
          <a:p>
            <a:pPr marL="256032" indent="-256032">
              <a:spcAft>
                <a:spcPts val="4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Surveillance cameras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544068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4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Night driving, robots, drones</a:t>
            </a:r>
          </a:p>
          <a:p>
            <a:pPr marL="256032" indent="-256032">
              <a:spcAft>
                <a:spcPts val="4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Detectors miss objects in the dark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The problem: darkness + noise + colour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noise_w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4206240" cy="2804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203192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Arial"/>
              </a:rPr>
              <a:t>Our LOL-v1 test image 79; red box = dark region zoomed on the right</a:t>
            </a:r>
          </a:p>
        </p:txBody>
      </p:sp>
      <p:pic>
        <p:nvPicPr>
          <p:cNvPr id="9" name="Picture 8" descr="noise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91640"/>
            <a:ext cx="6766560" cy="15615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0" y="1298448"/>
            <a:ext cx="21861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2514E"/>
                </a:solidFill>
                <a:latin typeface="Arial"/>
              </a:rPr>
              <a:t>Input × 6 (just brighter)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9420" y="1298448"/>
            <a:ext cx="21861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2514E"/>
                </a:solidFill>
                <a:latin typeface="Arial"/>
              </a:rPr>
              <a:t>Zero-DCE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9640" y="1298448"/>
            <a:ext cx="21861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2514E"/>
                </a:solidFill>
                <a:latin typeface="Arial"/>
              </a:rPr>
              <a:t>Ground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61188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4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Dark: little light reaches the sensor, details are hidden</a:t>
            </a:r>
          </a:p>
          <a:p>
            <a:pPr marL="256032" indent="-256032">
              <a:spcAft>
                <a:spcPts val="4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Noisy: few photons → low SNR (signal-to-noise ratio) → speckles</a:t>
            </a:r>
          </a:p>
          <a:p>
            <a:pPr marL="256032" indent="-256032">
              <a:spcAft>
                <a:spcPts val="4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Colour shift: weak light distorts colours (grey-green instead of white)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98348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A78D6"/>
                </a:solidFill>
                <a:latin typeface="Arial"/>
              </a:rPr>
              <a:t>Brightening multiplies noise as much as signal → enhancement must brighten AND denoise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How the field evolved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011680" cy="82296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B0B0B"/>
                </a:solidFill>
                <a:latin typeface="Arial"/>
              </a:rPr>
              <a:t>Classical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2514E"/>
                </a:solidFill>
                <a:latin typeface="Arial"/>
              </a:rPr>
              <a:t>HE, CLAHE,</a:t>
            </a:r>
          </a:p>
          <a:p>
            <a:pPr algn="ctr"/>
            <a:r>
              <a:rPr sz="1400" b="0">
                <a:solidFill>
                  <a:srgbClr val="52514E"/>
                </a:solidFill>
                <a:latin typeface="Arial"/>
              </a:rPr>
              <a:t>Retinex / LIME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60020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A78D6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463040"/>
            <a:ext cx="2011680" cy="82296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46304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B0B0B"/>
                </a:solidFill>
                <a:latin typeface="Arial"/>
              </a:rPr>
              <a:t>Supervised 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7744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2514E"/>
                </a:solidFill>
                <a:latin typeface="Arial"/>
              </a:rPr>
              <a:t>LLNet, Retinex-Net,</a:t>
            </a:r>
          </a:p>
          <a:p>
            <a:pPr algn="ctr"/>
            <a:r>
              <a:rPr sz="1400" b="0">
                <a:solidFill>
                  <a:srgbClr val="52514E"/>
                </a:solidFill>
                <a:latin typeface="Arial"/>
              </a:rPr>
              <a:t>KinD, MIRNet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160020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A78D6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463040"/>
            <a:ext cx="2011680" cy="82296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6304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B0B0B"/>
                </a:solidFill>
                <a:latin typeface="Arial"/>
              </a:rPr>
              <a:t>Zero-shot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7744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2514E"/>
                </a:solidFill>
                <a:latin typeface="Arial"/>
              </a:rPr>
              <a:t>EnlightenGAN,</a:t>
            </a:r>
          </a:p>
          <a:p>
            <a:pPr algn="ctr"/>
            <a:r>
              <a:rPr sz="1400" b="0">
                <a:solidFill>
                  <a:srgbClr val="52514E"/>
                </a:solidFill>
                <a:latin typeface="Arial"/>
              </a:rPr>
              <a:t>Zero-DCE, RUAS, SCI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60020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A78D6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463040"/>
            <a:ext cx="2011680" cy="8229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46304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Transformers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37744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2514E"/>
                </a:solidFill>
                <a:latin typeface="Arial"/>
              </a:rPr>
              <a:t>SNR-Aware, LLFormer,</a:t>
            </a:r>
          </a:p>
          <a:p>
            <a:pPr algn="ctr"/>
            <a:r>
              <a:rPr sz="1400" b="0">
                <a:solidFill>
                  <a:srgbClr val="52514E"/>
                </a:solidFill>
                <a:latin typeface="Arial"/>
              </a:rPr>
              <a:t>Retinexformer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160020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A78D6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1463040"/>
            <a:ext cx="2011680" cy="82296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46304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B0B0B"/>
                </a:solidFill>
                <a:latin typeface="Arial"/>
              </a:rPr>
              <a:t>Diffusion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37744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2514E"/>
                </a:solidFill>
                <a:latin typeface="Arial"/>
              </a:rPr>
              <a:t>GSAD,</a:t>
            </a:r>
          </a:p>
          <a:p>
            <a:pPr algn="ctr"/>
            <a:r>
              <a:rPr sz="1400" b="0">
                <a:solidFill>
                  <a:srgbClr val="52514E"/>
                </a:solidFill>
                <a:latin typeface="Arial"/>
              </a:rPr>
              <a:t>Diff-Retinex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461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78D6"/>
                </a:solidFill>
                <a:latin typeface="Arial"/>
              </a:rPr>
              <a:t>What each stage left open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61188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1188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No learning,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no noise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361188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61188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Needs paired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dark/bright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361188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61188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Brightens the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noise too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61188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61188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Not noise-aware;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attention is costly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361188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61188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Very slow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(many passes)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00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Survey (Li et al., TPAMI 2022): no method wins everywhere; noise in dark regions remains open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This project: Retinexformer (ICCV 2023) as the main model, made noise-aware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Key methods compared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3931920"/>
                <a:gridCol w="32918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Year / venue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Key idea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HE / CLAHE / Gamma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Re-map brightness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No noise model, colour shifts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Zero-DCE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CVPR 2020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Learned brightness curves, no pairs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Brightens noise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SCI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CVPR 2022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Self-calibrated illumination, ~300 params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Brightens noise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SNR-Aware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CVPR 2022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SNR map decides local vs. long-range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Heavier; no Retinex model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LLFormer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AAAI 2023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Axis-based attention for 4K/8K images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24.5 M params, slower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Retinexformer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ICCV 2023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Illumination-guided channel attention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Illumination-aware, not noise-aware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GSAD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NeurIPS 2023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Diffusion with structure regularization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Slow; GT-brightness test trick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Research gap and objectives of this midsem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4480560"/>
                <a:gridCol w="21031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Gap in the literature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What I did in the first half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Shown in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Noise amplification in dark regions is unsolved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SNR-weighted loss, tested against a control 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My idea, Ablation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Retinexformer: illumination-aware, not noise-aware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Retinexformer as base; SNR map adds noise information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Main model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Methods judged by PSNR/SSIM, rarely by a machine task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Detection study (YOLOv8) + dark-region PSNR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Detection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Diffusion: quality at a large speed cost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Speed of every method on one GPU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Efficiency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Papers use different test protocols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Reproduce Retinexformer + 8 baselines with one script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Results, Reproduction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A78D6"/>
                </a:solidFill>
                <a:latin typeface="Arial"/>
              </a:rPr>
              <a:t>Second half: plan the next step from this evidence (see Plan).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Background: Retinex theory and attention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A78D6"/>
                </a:solidFill>
                <a:latin typeface="Arial"/>
              </a:rPr>
              <a:t>Retinex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B0B0B"/>
                </a:solidFill>
                <a:latin typeface="Arial"/>
              </a:rPr>
              <a:t>I  =  R  ⊙ 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I: observed image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R: reflectance = object colours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L: illumination = light on the scene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Enhance: estimate L, replace by brighter light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Real images: noise in R and L, amplified when L is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A78D6"/>
                </a:solidFill>
                <a:latin typeface="Arial"/>
              </a:rPr>
              <a:t>Why attention is costly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0B0B0B"/>
                </a:solidFill>
                <a:latin typeface="Arial"/>
              </a:rPr>
              <a:t>softmax(QKᵀ/√d)·V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517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QKᵀ is N × N  (N = number of pixels)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600×400 image: N = 240,000 → 58 billion entries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Channel attention: softmax(KᵀQ) is only C × C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So the cost grows only linearly with image size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Main model: Retinexformer (ICCV 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9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39" y="1280160"/>
            <a:ext cx="763628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155448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Estimator → light-up map L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Lit-up image: I ⊙ L + I (still noisy)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Restorer: U-shaped transformer (IGT)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IG-MSA: V × light-up features, attention across channels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1.61 M params, ℓ1 loss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My idea: noise-aware (SNR-weighted)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10</a:t>
            </a:r>
          </a:p>
        </p:txBody>
      </p:sp>
      <p:pic>
        <p:nvPicPr>
          <p:cNvPr id="7" name="Picture 6" descr="snr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33547"/>
            <a:ext cx="8138160" cy="4282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3716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78D6"/>
                </a:solidFill>
                <a:latin typeface="Arial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8308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3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blur b = 5×5 mean of gray</a:t>
            </a:r>
          </a:p>
          <a:p>
            <a:pPr marL="256032" indent="-256032">
              <a:spcAft>
                <a:spcPts val="3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noise n = |gray − b|</a:t>
            </a:r>
          </a:p>
          <a:p>
            <a:pPr marL="256032" indent="-256032">
              <a:spcAft>
                <a:spcPts val="3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SNR = b / (n + ε)</a:t>
            </a:r>
          </a:p>
          <a:p>
            <a:pPr marL="256032" indent="-256032">
              <a:spcAft>
                <a:spcPts val="3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rank r ∈ [0,1] per image</a:t>
            </a:r>
          </a:p>
          <a:p>
            <a:pPr marL="256032" indent="-256032">
              <a:spcAft>
                <a:spcPts val="3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w = 1 + α(1 − r),  α = 1</a:t>
            </a:r>
          </a:p>
          <a:p>
            <a:pPr marL="256032" indent="-256032">
              <a:spcAft>
                <a:spcPts val="3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w ← w / mean(w)</a:t>
            </a:r>
          </a:p>
          <a:p>
            <a:pPr marL="256032" indent="-256032">
              <a:spcAft>
                <a:spcPts val="3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Arial"/>
              </a:rPr>
              <a:t>L = mean(w · |Ŷ − Y|)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8064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Arial"/>
              </a:rPr>
              <a:t>Rank normalisation (e) spreads the weights; min-max (f) gives almost every pixel the same weight (93% &gt; 1.9).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19202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Test images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LOL-v1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paired, main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LOL-v2 real / syn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paired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100 / 100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LIME / DICM / MEF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unpaired, NIQE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10 / 69 / 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ExDark (12 classes)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detection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1,200 (GSAD: 200)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417320"/>
          <a:ext cx="502920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377440"/>
                <a:gridCol w="9144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Measures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Better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PSNR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pixel fidelity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SSIM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structure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↑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LPIPS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perceptual distance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NIQE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naturalness (no GT)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Dark-30% PSNR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darkest 30% of pixels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mAP50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detection accuracy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↑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09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4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Hardware: Kaggle Tesla T4 (training, timing); laptop for evaluation</a:t>
            </a:r>
          </a:p>
          <a:p>
            <a:pPr marL="256032" indent="-256032">
              <a:spcAft>
                <a:spcPts val="4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Rules: no GT at test time · no test-chosen checkpoint · no train/test overlap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Quantitative results (paired test sets)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17320"/>
                <a:gridCol w="1143000"/>
                <a:gridCol w="1143000"/>
                <a:gridCol w="1920240"/>
                <a:gridCol w="132588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LOL-v1 PSNR↑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SSIM↑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LPIPS↓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LOL-v2-real PSNR↑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SSIM↑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LPIPS↓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7.77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0.191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9.72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0.196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Gamma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14.53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0.620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0.351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18.70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0.659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0.318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Zero-DCE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14.86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0.335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18.06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0.313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SCI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14.85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0.527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0.339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17.36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0.542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0.307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SNR-Aware*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24.61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0.840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0.151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21.48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0.848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0.157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LLFormer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23.65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0.816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0.169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GSAD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22.73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0.850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0.103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20.14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0.845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0.114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Retinexformer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25.15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0.843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0.131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22.79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0.839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0.171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Retinexformer (mine)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23.10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0.828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0.143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6811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* images released by the SNR-Aware authors.  Best value in bold.  –: train/test overlap (see setup).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78D6"/>
                </a:solidFill>
                <a:latin typeface="Arial"/>
              </a:rPr>
              <a:t>Retinexformer: best PSNR  ·  GSAD: best LPIPS (most natural-looking)  ·  classical / zero-shot ≈ 15 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Reproduction and protocol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5760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Method / set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Ours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Retinexformer, LOL-v1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25.16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25.15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SNR-Aware, LOL-v1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24.61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24.61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LLFormer, LOL-v1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23.65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23.65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GSAD, LOL-v1 (GT trick)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27.84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27.57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GSAD, LOL-v1 (real output)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22.73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976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PSNR in dB on LOL-v1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5760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A78D6"/>
                </a:solidFill>
                <a:latin typeface="Arial"/>
              </a:rPr>
              <a:t>Released models reproduce their papers → my evaluation pipeline is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GSAD's test rescales outputs to the ground-truth brightness: +4.85 dB (LOL-v1)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LOL-v2-real: 91 / 100 test images are LOL-v1 training images (example below)</a:t>
            </a:r>
          </a:p>
          <a:p>
            <a:pPr marL="256032" indent="-256032">
              <a:spcAft>
                <a:spcPts val="6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My re-training: 23.10 dB vs released 25.15 (GitHub #132: 23.45)</a:t>
            </a:r>
          </a:p>
        </p:txBody>
      </p:sp>
      <p:pic>
        <p:nvPicPr>
          <p:cNvPr id="11" name="Picture 10" descr="overlap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343400"/>
            <a:ext cx="4920615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0" y="601675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Arial"/>
              </a:rPr>
              <a:t>Left: LOL-v2-real TEST 00771  ·  Right: LOL-v1 TRAIN 771 - identical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Qualitative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14</a:t>
            </a:r>
          </a:p>
        </p:txBody>
      </p:sp>
      <p:pic>
        <p:nvPicPr>
          <p:cNvPr id="7" name="Picture 6" descr="grid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06" y="1188720"/>
            <a:ext cx="10778507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Does enhancement help a detector? (ExDark, YOLOv8m)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58521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914400"/>
                <a:gridCol w="128016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Input to YOLOv8m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mAP50 (1,200)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mAP50 (200)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Raw (no enhancement)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0.662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0.611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0.707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Retinexformer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0.603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0.540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0.628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SCI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0.625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Zero-DCE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0.572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0.502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0.603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GSAD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Arial"/>
                        </a:rPr>
                        <a:t>0.633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34340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4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Raw images give the best mAP</a:t>
            </a:r>
          </a:p>
          <a:p>
            <a:pPr marL="256032" indent="-256032">
              <a:spcAft>
                <a:spcPts val="4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Enhancement lowers recall, not precision</a:t>
            </a:r>
          </a:p>
          <a:p>
            <a:pPr marL="256032" indent="-256032">
              <a:spcAft>
                <a:spcPts val="4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Better restoration hurts less, none helps</a:t>
            </a:r>
          </a:p>
        </p:txBody>
      </p:sp>
      <p:pic>
        <p:nvPicPr>
          <p:cNvPr id="9" name="Picture 8" descr="detection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63040"/>
            <a:ext cx="5212080" cy="43260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86226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Arial"/>
              </a:rPr>
              <a:t>Our YOLOv8m detections: bus missed in all versions; enhancement turns the white blanket yellow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Ablation: does the noise-aware loss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46304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LOL-v1 PSNR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Dark-30% PSNR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Dark wins vs A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ExDark mAP50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Released (start)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0B0B"/>
                          </a:solidFill>
                          <a:latin typeface="Arial"/>
                        </a:rPr>
                        <a:t>25.15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0B0B"/>
                          </a:solidFill>
                          <a:latin typeface="Arial"/>
                        </a:rPr>
                        <a:t>25.31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0B0B"/>
                          </a:solidFill>
                          <a:latin typeface="Arial"/>
                        </a:rPr>
                        <a:t>0.627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A: L1 (control)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24.31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24.89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0B0B"/>
                          </a:solidFill>
                          <a:latin typeface="Arial"/>
                        </a:rPr>
                        <a:t>0.627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B: SNR-L1 (mine)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24.32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24.91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13/15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0.626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C: L1 + FFT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24.31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24.89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3/15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0.626</a:t>
                      </a:r>
                    </a:p>
                  </a:txBody>
                  <a:tcPr marL="54864" marR="54864" marT="18288" marB="18288" anchor="ctr">
                    <a:solidFill>
                      <a:srgbClr val="EE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D: SNR-L1 + FFT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24.32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24.91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12/15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0.626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8160" y="155448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B vs A: dark regions better on 13/15 images (p = 0.004)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…but only +0.01 to +0.05 dB: negligible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FFT loss: no effect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Fine-tuning lowers LOL-v1 PSNR for every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78D6"/>
                </a:solidFill>
                <a:latin typeface="Arial"/>
              </a:rPr>
              <a:t>Takeaway: a consistent effect in the intended place (dark regions), but far too small to matter. The idea needs to act inside the network, not only in the loss.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Efficiency: quality vs. speed (one Tesla T4)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17</a:t>
            </a:r>
          </a:p>
        </p:txBody>
      </p:sp>
      <p:pic>
        <p:nvPicPr>
          <p:cNvPr id="7" name="Picture 6" descr="quality_vs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99616"/>
            <a:ext cx="7498079" cy="4498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164592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SCI: 1.5 ms, low quality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Zero-DCE: 19 ms, low quality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Retinexformer: 151 ms, best PSNR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LLFormer: 874 ms, 24.5 M params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700">
                <a:solidFill>
                  <a:srgbClr val="0B0B0B"/>
                </a:solidFill>
                <a:latin typeface="Arial"/>
              </a:rPr>
              <a:t>GSAD: 2.4–4.9 s per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20624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A78D6"/>
                </a:solidFill>
                <a:latin typeface="Arial"/>
              </a:rPr>
              <a:t>Retinexformer: best quality–speed trade-off. GSAD is 16–32× slower for lower PSNR.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Limitations and failure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18</a:t>
            </a:r>
          </a:p>
        </p:txBody>
      </p:sp>
      <p:pic>
        <p:nvPicPr>
          <p:cNvPr id="7" name="Picture 6" descr="failures_lol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583680" cy="36610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55448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Only 15 LOL-v1 test images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One seed per run; limited free GPU time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SNR estimate also marks edges as noise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Detector used as-is (not fine-tuned)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>
                <a:solidFill>
                  <a:srgbClr val="0B0B0B"/>
                </a:solidFill>
                <a:latin typeface="Arial"/>
              </a:rPr>
              <a:t>SNR-Aware: released images only; GSAD on 200 ExDark images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Plan for the second 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828800" cy="685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828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Weeks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508760"/>
            <a:ext cx="9144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B0B0B"/>
                </a:solidFill>
                <a:latin typeface="Arial"/>
              </a:rPr>
              <a:t>SNR guidance inside IG-MSA; noise estimate that ignores edges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828800" cy="685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1828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Weeks 3–4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23160"/>
            <a:ext cx="9144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B0B0B"/>
                </a:solidFill>
                <a:latin typeface="Arial"/>
              </a:rPr>
              <a:t>Sweep α and weighting; 3 seeds per setting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1828800" cy="685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1828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Weeks 5–6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37560"/>
            <a:ext cx="9144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B0B0B"/>
                </a:solidFill>
                <a:latin typeface="Arial"/>
              </a:rPr>
              <a:t>Train best variant from scratch; larger test 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1828800" cy="685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1828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Week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251960"/>
            <a:ext cx="9144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B0B0B"/>
                </a:solidFill>
                <a:latin typeface="Arial"/>
              </a:rPr>
              <a:t>Fine-tune YOLOv8 on enhanced vs raw ExDark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1828800" cy="685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66360"/>
            <a:ext cx="1828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Week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166360"/>
            <a:ext cx="9144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B0B0B"/>
                </a:solidFill>
                <a:latin typeface="Arial"/>
              </a:rPr>
              <a:t>Final report and code release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Arial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514E"/>
                </a:solidFill>
                <a:latin typeface="Arial"/>
              </a:rPr>
              <a:t>Midsem BTP  ·  Low-light image enhancement  ·  IIT 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2514E"/>
                </a:solidFill>
                <a:latin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900">
                <a:solidFill>
                  <a:srgbClr val="0B0B0B"/>
                </a:solidFill>
                <a:latin typeface="Arial"/>
              </a:rPr>
              <a:t>Reproduced Retinexformer (25.15 dB) + 8 baselines under one protocol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900">
                <a:solidFill>
                  <a:srgbClr val="0B0B0B"/>
                </a:solidFill>
                <a:latin typeface="Arial"/>
              </a:rPr>
              <a:t>Found: GT-brightness trick (GSAD), LOL-v2-real / LOL-v1 overlap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900">
                <a:solidFill>
                  <a:srgbClr val="0B0B0B"/>
                </a:solidFill>
                <a:latin typeface="Arial"/>
              </a:rPr>
              <a:t>Raw images beat every enhancer for YOLOv8m (mAP50 0.662)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900">
                <a:solidFill>
                  <a:srgbClr val="0B0B0B"/>
                </a:solidFill>
                <a:latin typeface="Arial"/>
              </a:rPr>
              <a:t>SNR-weighted loss: consistent but negligible gain in dark regions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900">
                <a:solidFill>
                  <a:srgbClr val="0B0B0B"/>
                </a:solidFill>
                <a:latin typeface="Arial"/>
              </a:rPr>
              <a:t>Next: noise awareness inside attention, larger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1155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Arial"/>
              </a:rPr>
              <a:t>Key references: Cai et al., Retinexformer, ICCV 2023 · Xu et al., SNR-Aware, CVPR 2022 · Hou et al., GSAD, NeurIPS 2023 · Wang et al., LLFormer, AAAI 2023 · Guo et al., Zero-DCE, CVPR 2020 · Ma et al., SCI, CVPR 2022 · Li et al., LLIE survey, TPAMI 2022 · Loh &amp; Chan, ExDark, CVIU 2019  (full list in the report)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78D6"/>
                </a:solidFill>
                <a:latin typeface="Arial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